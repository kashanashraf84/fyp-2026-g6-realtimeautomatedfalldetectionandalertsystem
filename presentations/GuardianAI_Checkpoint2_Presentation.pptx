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-2011680"/>
            <a:ext cx="6858000" cy="6858000"/>
          </a:xfrm>
          <a:prstGeom prst="ellipse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2377440"/>
            <a:ext cx="5029200" cy="5029200"/>
          </a:xfrm>
          <a:prstGeom prst="ellipse">
            <a:avLst/>
          </a:prstGeom>
          <a:solidFill>
            <a:srgbClr val="17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417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 Semibold"/>
              </a:rPr>
              <a:t>FINAL YEAR PROJECT 2026  ·  CHECKPOINT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Segoe UI Semibold"/>
              </a:rPr>
              <a:t>Guardian</a:t>
            </a:r>
            <a:r>
              <a:rPr sz="6000" b="1">
                <a:solidFill>
                  <a:srgbClr val="38BDF8"/>
                </a:solidFill>
                <a:latin typeface="Segoe UI Semibold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3580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CBD5E1"/>
                </a:solidFill>
                <a:latin typeface="Segoe UI"/>
              </a:rPr>
              <a:t>Real-Time Automated Fall Detection and Alert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" y="3767328"/>
            <a:ext cx="292608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11480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4A3B8"/>
                </a:solidFill>
                <a:latin typeface="Segoe UI"/>
              </a:rPr>
              <a:t>Group FYP-2026-G6   ·   BS Computer Science</a:t>
            </a:r>
          </a:p>
          <a:p>
            <a:pPr algn="l">
              <a:spcBef>
                <a:spcPts val="1400"/>
              </a:spcBef>
            </a:pPr>
            <a:r>
              <a:rPr sz="1350" b="0" i="0">
                <a:solidFill>
                  <a:srgbClr val="E2E8F0"/>
                </a:solidFill>
                <a:latin typeface="Segoe UI"/>
              </a:rPr>
              <a:t>Kashan M. Ashraf   BSCS-01007      Umer Ahmed   BSCS-01011      Imran   BSCS-01014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9436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8BDF8"/>
                </a:solidFill>
                <a:latin typeface="Segoe UI"/>
              </a:rPr>
              <a:t>kashan84-guardianai.static.hf.space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Segoe UI Semibold"/>
              </a:rPr>
              <a:t>THE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Segoe UI Semibold"/>
              </a:rPr>
              <a:t>Why We Chose This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5156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6000"/>
              </a:lnSpc>
              <a:buClr>
                <a:srgbClr val="4F46E5"/>
              </a:buClr>
              <a:buSzPct val="70000"/>
              <a:buFont typeface="Arial"/>
              <a:buChar char="●"/>
            </a:pPr>
            <a:r>
              <a:rPr sz="1650" b="0" i="0">
                <a:solidFill>
                  <a:srgbClr val="1E293B"/>
                </a:solidFill>
                <a:latin typeface="Segoe UI"/>
              </a:rPr>
              <a:t>Falling is one of the most common accidents for older people living at home.</a:t>
            </a:r>
          </a:p>
          <a:p>
            <a:pPr algn="l" marL="274320" indent="-274320">
              <a:lnSpc>
                <a:spcPct val="106000"/>
              </a:lnSpc>
              <a:spcBef>
                <a:spcPts val="1700"/>
              </a:spcBef>
              <a:buClr>
                <a:srgbClr val="4F46E5"/>
              </a:buClr>
              <a:buSzPct val="70000"/>
              <a:buFont typeface="Arial"/>
              <a:buChar char="●"/>
            </a:pPr>
            <a:r>
              <a:rPr sz="1650" b="0" i="0">
                <a:solidFill>
                  <a:srgbClr val="1E293B"/>
                </a:solidFill>
                <a:latin typeface="Segoe UI"/>
              </a:rPr>
              <a:t>The bigger danger is often not the fall itself. It is lying on the floor for a long time before anyone notices.</a:t>
            </a:r>
          </a:p>
          <a:p>
            <a:pPr algn="l" marL="274320" indent="-274320">
              <a:lnSpc>
                <a:spcPct val="106000"/>
              </a:lnSpc>
              <a:spcBef>
                <a:spcPts val="1700"/>
              </a:spcBef>
              <a:buClr>
                <a:srgbClr val="4F46E5"/>
              </a:buClr>
              <a:buSzPct val="70000"/>
              <a:buFont typeface="Arial"/>
              <a:buChar char="●"/>
            </a:pPr>
            <a:r>
              <a:rPr sz="1650" b="0" i="0">
                <a:solidFill>
                  <a:srgbClr val="1E293B"/>
                </a:solidFill>
                <a:latin typeface="Segoe UI"/>
              </a:rPr>
              <a:t>Most families here cannot afford a full time caretaker, and children are usually out at work or school.</a:t>
            </a:r>
          </a:p>
          <a:p>
            <a:pPr algn="l" marL="274320" indent="-274320">
              <a:lnSpc>
                <a:spcPct val="106000"/>
              </a:lnSpc>
              <a:spcBef>
                <a:spcPts val="1700"/>
              </a:spcBef>
              <a:buClr>
                <a:srgbClr val="4F46E5"/>
              </a:buClr>
              <a:buSzPct val="70000"/>
              <a:buFont typeface="Arial"/>
              <a:buChar char="●"/>
            </a:pPr>
            <a:r>
              <a:rPr sz="1650" b="0" i="0">
                <a:solidFill>
                  <a:srgbClr val="1E293B"/>
                </a:solidFill>
                <a:latin typeface="Segoe UI"/>
              </a:rPr>
              <a:t>Emergency buttons and smart bands already exist, but the person has to remember to wear them and has to be conscious enough to press them.</a:t>
            </a:r>
          </a:p>
          <a:p>
            <a:pPr algn="l" marL="274320" indent="-274320">
              <a:lnSpc>
                <a:spcPct val="106000"/>
              </a:lnSpc>
              <a:spcBef>
                <a:spcPts val="1700"/>
              </a:spcBef>
              <a:buClr>
                <a:srgbClr val="4F46E5"/>
              </a:buClr>
              <a:buSzPct val="70000"/>
              <a:buFont typeface="Arial"/>
              <a:buChar char="●"/>
            </a:pPr>
            <a:r>
              <a:rPr sz="1650" b="0" i="0">
                <a:solidFill>
                  <a:srgbClr val="1E293B"/>
                </a:solidFill>
                <a:latin typeface="Segoe UI"/>
              </a:rPr>
              <a:t>Almost every home or clinic can afford a simple camera, and many already have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956048"/>
            <a:ext cx="10789920" cy="713232"/>
          </a:xfrm>
          <a:prstGeom prst="roundRect">
            <a:avLst>
              <a:gd name="adj" fmla="val 14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38928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312E81"/>
                </a:solidFill>
                <a:latin typeface="Segoe UI Semibold"/>
              </a:rPr>
              <a:t>Our goal: make the room itself notice the fall, so nobody has to wear or press anything.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367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GuardianAI  ·  FYP-2026-G6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36792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Segoe UI Semibold"/>
              </a:rPr>
              <a:t>THE IDEA 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Segoe UI Semibold"/>
              </a:rPr>
              <a:t>What GuardianAI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5156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0789920" cy="1024128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4767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A normal camera watches the room. The software checks how the person is moving and standing. If it looks like a fall, it raises an alert straight away.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2551176" cy="25786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364992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Segoe UI"/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968496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Any ordinary 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40740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525C6B"/>
                </a:solidFill>
                <a:latin typeface="Segoe UI"/>
              </a:rPr>
              <a:t>A laptop webcam or a CCTV camera is enough. No special sensor or new hardware.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3063240"/>
            <a:ext cx="2551176" cy="25786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364992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Segoe UI"/>
              </a:rP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968496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Nothing to wear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40740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525C6B"/>
                </a:solidFill>
                <a:latin typeface="Segoe UI"/>
              </a:rPr>
              <a:t>The person does not carry a band, a button or a phone. Nothing to charge or forget.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3063240"/>
            <a:ext cx="2551176" cy="25786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364992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Segoe UI"/>
              </a:rP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968496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Always watching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40740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525C6B"/>
                </a:solidFill>
                <a:latin typeface="Segoe UI"/>
              </a:rPr>
              <a:t>The system does not get tired, distracted or fall asleep at night.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3104" y="3063240"/>
            <a:ext cx="2551176" cy="25786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3364992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Segoe UI"/>
              </a:rPr>
              <a:t>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3968496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Alert in seconds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440740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525C6B"/>
                </a:solidFill>
                <a:latin typeface="Segoe UI"/>
              </a:rPr>
              <a:t>The family or the caretaker is told immediately, even if they are in another room.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367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GuardianAI  ·  FYP-2026-G6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336792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Segoe UI Semibold"/>
              </a:rPr>
              <a:t>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Segoe UI Semibold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5156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8007" y="1965960"/>
            <a:ext cx="2011680" cy="2084831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7463" y="2203704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7463" y="2569464"/>
            <a:ext cx="15727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Take a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463" y="2990088"/>
            <a:ext cx="157276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150" b="0" i="0">
                <a:solidFill>
                  <a:srgbClr val="525C6B"/>
                </a:solidFill>
                <a:latin typeface="Segoe UI"/>
              </a:rPr>
              <a:t>One picture is taken from the live camera video.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579979" y="2907792"/>
            <a:ext cx="173736" cy="201168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04007" y="1965960"/>
            <a:ext cx="2011680" cy="2084831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3463" y="2203704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3463" y="2569464"/>
            <a:ext cx="15727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Find the 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3463" y="2990088"/>
            <a:ext cx="157276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150" b="0" i="0">
                <a:solidFill>
                  <a:srgbClr val="525C6B"/>
                </a:solidFill>
                <a:latin typeface="Segoe UI"/>
              </a:rPr>
              <a:t>The system marks points on the head, shoulders, hips, knees and feet.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865979" y="2907792"/>
            <a:ext cx="173736" cy="201168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90007" y="1965960"/>
            <a:ext cx="2011680" cy="2084831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9463" y="2203704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9463" y="2569464"/>
            <a:ext cx="15727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9463" y="2990088"/>
            <a:ext cx="157276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150" b="0" i="0">
                <a:solidFill>
                  <a:srgbClr val="525C6B"/>
                </a:solidFill>
                <a:latin typeface="Segoe UI"/>
              </a:rPr>
              <a:t>It works out the body angle, how fast the head is dropping and how low the person is.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7151979" y="2907792"/>
            <a:ext cx="173736" cy="201168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76007" y="1965960"/>
            <a:ext cx="2011680" cy="2084831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95463" y="2203704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5463" y="2569464"/>
            <a:ext cx="15727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5463" y="2990088"/>
            <a:ext cx="157276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150" b="0" i="0">
                <a:solidFill>
                  <a:srgbClr val="525C6B"/>
                </a:solidFill>
                <a:latin typeface="Segoe UI"/>
              </a:rPr>
              <a:t>The status becomes Normal, Warning or Fall.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9437979" y="2907792"/>
            <a:ext cx="173736" cy="201168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62007" y="1965960"/>
            <a:ext cx="2011680" cy="2084831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81463" y="2203704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1463" y="2569464"/>
            <a:ext cx="15727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Alert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1463" y="2990088"/>
            <a:ext cx="157276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150" b="0" i="0">
                <a:solidFill>
                  <a:srgbClr val="525C6B"/>
                </a:solidFill>
                <a:latin typeface="Segoe UI"/>
              </a:rPr>
              <a:t>Buzzer, screen popup, Windows notification and email.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498848"/>
            <a:ext cx="1078992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773168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buClr>
                <a:srgbClr val="4F46E5"/>
              </a:buClr>
              <a:buSzPct val="70000"/>
              <a:buFont typeface="Arial"/>
              <a:buChar char="●"/>
            </a:pPr>
            <a:r>
              <a:rPr sz="1450" b="0" i="0">
                <a:solidFill>
                  <a:srgbClr val="1E293B"/>
                </a:solidFill>
                <a:latin typeface="Segoe UI"/>
              </a:rPr>
              <a:t>This whole cycle repeats about 25 to 30 times every second, so an alert appears in well under a second.</a:t>
            </a:r>
          </a:p>
          <a:p>
            <a:pPr algn="l" marL="274320" indent="-274320">
              <a:spcBef>
                <a:spcPts val="900"/>
              </a:spcBef>
              <a:buClr>
                <a:srgbClr val="4F46E5"/>
              </a:buClr>
              <a:buSzPct val="70000"/>
              <a:buFont typeface="Arial"/>
              <a:buChar char="●"/>
            </a:pPr>
            <a:r>
              <a:rPr sz="1450" b="0" i="0">
                <a:solidFill>
                  <a:srgbClr val="1E293B"/>
                </a:solidFill>
                <a:latin typeface="Segoe UI"/>
              </a:rPr>
              <a:t>The measurements are printed on the screen, so we can always show why the system gave that answer.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367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GuardianAI  ·  FYP-2026-G6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336792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Segoe UI Semibold"/>
              </a:rPr>
              <a:t>THE CORE OF 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Segoe UI Semibold"/>
              </a:rPr>
              <a:t>Two Checks Before We Say 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5156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230368" cy="23957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5230368" cy="685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75688"/>
            <a:ext cx="4590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Segoe UI Semibold"/>
              </a:rPr>
              <a:t>Check 1  ·  The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96312"/>
            <a:ext cx="4590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25C6B"/>
                </a:solidFill>
                <a:latin typeface="Segoe UI"/>
              </a:rPr>
              <a:t>Plain measurements that anyone can follow.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53512"/>
            <a:ext cx="4590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6000"/>
              </a:lnSpc>
              <a:buClr>
                <a:srgbClr val="4F46E5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Is the body upright or flat?</a:t>
            </a:r>
          </a:p>
          <a:p>
            <a:pPr algn="l" marL="274320" indent="-274320">
              <a:lnSpc>
                <a:spcPct val="106000"/>
              </a:lnSpc>
              <a:spcBef>
                <a:spcPts val="1000"/>
              </a:spcBef>
              <a:buClr>
                <a:srgbClr val="4F46E5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Did the head drop suddenly?</a:t>
            </a:r>
          </a:p>
          <a:p>
            <a:pPr algn="l" marL="274320" indent="-274320">
              <a:lnSpc>
                <a:spcPct val="106000"/>
              </a:lnSpc>
              <a:spcBef>
                <a:spcPts val="1000"/>
              </a:spcBef>
              <a:buClr>
                <a:srgbClr val="4F46E5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Is the person low down, near the floor?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230368" cy="23957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5230368" cy="685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75688"/>
            <a:ext cx="4590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Segoe UI Semibold"/>
              </a:rPr>
              <a:t>Check 2  ·  The Trained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96312"/>
            <a:ext cx="4590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25C6B"/>
                </a:solidFill>
                <a:latin typeface="Segoe UI"/>
              </a:rPr>
              <a:t>A model that learned from movement examples.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53512"/>
            <a:ext cx="4590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6000"/>
              </a:lnSpc>
              <a:buClr>
                <a:srgbClr val="0EA5E9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It reads the last one second of movement.</a:t>
            </a:r>
          </a:p>
          <a:p>
            <a:pPr algn="l" marL="274320" indent="-274320">
              <a:lnSpc>
                <a:spcPct val="106000"/>
              </a:lnSpc>
              <a:spcBef>
                <a:spcPts val="1000"/>
              </a:spcBef>
              <a:buClr>
                <a:srgbClr val="0EA5E9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It looks at the pattern, not a single picture.</a:t>
            </a:r>
          </a:p>
          <a:p>
            <a:pPr algn="l" marL="274320" indent="-274320">
              <a:lnSpc>
                <a:spcPct val="106000"/>
              </a:lnSpc>
              <a:spcBef>
                <a:spcPts val="1000"/>
              </a:spcBef>
              <a:buClr>
                <a:srgbClr val="0EA5E9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It can catch shapes of movement that fixed rules miss.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62272"/>
            <a:ext cx="10808208" cy="1417320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700016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 Semibold"/>
              </a:rPr>
              <a:t>The two answers are then combined into one final status.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350" b="0" i="0">
                <a:solidFill>
                  <a:srgbClr val="CBD5E1"/>
                </a:solidFill>
                <a:latin typeface="Segoe UI"/>
              </a:rPr>
              <a:t>The model has the bigger say and the rules act as a safety check. Because we look at a full second instead of one picture, bending down or sitting quickly is not reported as a fall.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367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GuardianAI  ·  FYP-2026-G6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336792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Segoe UI Semibold"/>
              </a:rPr>
              <a:t>THE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Segoe UI Semibold"/>
              </a:rPr>
              <a:t>When a Fall Is Detected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5156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6858000" cy="7589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Segoe UI"/>
              </a:rPr>
              <a:t>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929384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Buzzer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203704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25C6B"/>
                </a:solidFill>
                <a:latin typeface="Segoe UI"/>
              </a:rPr>
              <a:t>A sound plays on the computer in the room.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42615"/>
            <a:ext cx="6858000" cy="7589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4378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Segoe UI"/>
              </a:rPr>
              <a:t>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78892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Screen 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3063239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25C6B"/>
                </a:solidFill>
                <a:latin typeface="Segoe UI"/>
              </a:rPr>
              <a:t>A red banner appears on the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02151"/>
            <a:ext cx="6858000" cy="7589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033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Segoe UI"/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648456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Windows notification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3922776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25C6B"/>
                </a:solidFill>
                <a:latin typeface="Segoe UI"/>
              </a:rPr>
              <a:t>Pops up in the corner even when another program is open.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61688"/>
            <a:ext cx="6858000" cy="7589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62855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Segoe UI"/>
              </a:rPr>
              <a:t>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4507992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4782312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25C6B"/>
                </a:solidFill>
                <a:latin typeface="Segoe UI"/>
              </a:rPr>
              <a:t>Sent to the caretaker or family contact that was saved.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21223"/>
            <a:ext cx="6858000" cy="7589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422391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Segoe UI"/>
              </a:rPr>
              <a:t>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5367527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Saved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5641847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25C6B"/>
                </a:solidFill>
                <a:latin typeface="Segoe UI"/>
              </a:rPr>
              <a:t>Every event is written to a log file with the date and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82127" y="1783080"/>
            <a:ext cx="3611880" cy="201168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201168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F172A"/>
                </a:solidFill>
                <a:latin typeface="Segoe UI Semibold"/>
              </a:rPr>
              <a:t>Mute button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24231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25C6B"/>
                </a:solidFill>
                <a:latin typeface="Segoe UI"/>
              </a:rPr>
              <a:t>One click turns the sound and the popups off, which is useful while testing or at night. The events are still recorded in the background.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7" y="3950208"/>
            <a:ext cx="3611880" cy="2103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417880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F172A"/>
                </a:solidFill>
                <a:latin typeface="Segoe UI Semibold"/>
              </a:rPr>
              <a:t>No alarm storms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590288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25C6B"/>
                </a:solidFill>
                <a:latin typeface="Segoe UI"/>
              </a:rPr>
              <a:t>After one alert the system waits 30 seconds before it can alert again, so a single fall does not set off a long chain of alarms.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367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GuardianAI  ·  FYP-2026-G6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336792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Segoe UI Semibold"/>
              </a:rPr>
              <a:t>WHAT THE CARETAKER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Segoe UI Semibold"/>
              </a:rPr>
              <a:t>The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5156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6569242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3796" y="1751076"/>
            <a:ext cx="6633250" cy="4224528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66522" y="1828800"/>
            <a:ext cx="3811941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6000"/>
              </a:lnSpc>
              <a:buClr>
                <a:srgbClr val="4F46E5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The live camera picture with the body points drawn on the person.</a:t>
            </a:r>
          </a:p>
          <a:p>
            <a:pPr algn="l" marL="274320" indent="-274320">
              <a:lnSpc>
                <a:spcPct val="106000"/>
              </a:lnSpc>
              <a:spcBef>
                <a:spcPts val="1500"/>
              </a:spcBef>
              <a:buClr>
                <a:srgbClr val="4F46E5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The current status and how confident the system is.</a:t>
            </a:r>
          </a:p>
          <a:p>
            <a:pPr algn="l" marL="274320" indent="-274320">
              <a:lnSpc>
                <a:spcPct val="106000"/>
              </a:lnSpc>
              <a:spcBef>
                <a:spcPts val="1500"/>
              </a:spcBef>
              <a:buClr>
                <a:srgbClr val="4F46E5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Body angle and drop speed, so the decision can be checked by a human.</a:t>
            </a:r>
          </a:p>
          <a:p>
            <a:pPr algn="l" marL="274320" indent="-274320">
              <a:lnSpc>
                <a:spcPct val="106000"/>
              </a:lnSpc>
              <a:spcBef>
                <a:spcPts val="1500"/>
              </a:spcBef>
              <a:buClr>
                <a:srgbClr val="4F46E5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A running list of the events that happened.</a:t>
            </a:r>
          </a:p>
          <a:p>
            <a:pPr algn="l" marL="274320" indent="-274320">
              <a:lnSpc>
                <a:spcPct val="106000"/>
              </a:lnSpc>
              <a:spcBef>
                <a:spcPts val="1500"/>
              </a:spcBef>
              <a:buClr>
                <a:srgbClr val="4F46E5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Buttons to start the camera and to mute the sound.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367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GuardianAI  ·  FYP-2026-G6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36792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Segoe UI Semibold"/>
              </a:rPr>
              <a:t>WHY IT FITS A NORMAL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Segoe UI Semibold"/>
              </a:rPr>
              <a:t>Privacy and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5156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474720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3474720" cy="685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139696"/>
            <a:ext cx="2889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0F172A"/>
                </a:solidFill>
                <a:latin typeface="Segoe UI Semibold"/>
              </a:rPr>
              <a:t>The video stays inside the 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670048"/>
            <a:ext cx="288950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25C6B"/>
                </a:solidFill>
                <a:latin typeface="Segoe UI"/>
              </a:rPr>
              <a:t>All the processing happens on the same computer that the camera is plugged into. The video is never uploaded to any company or cloud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783080"/>
            <a:ext cx="3474720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783080"/>
            <a:ext cx="3474720" cy="685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2139696"/>
            <a:ext cx="2889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0F172A"/>
                </a:solidFill>
                <a:latin typeface="Segoe UI Semibold"/>
              </a:rPr>
              <a:t>Only the alert travels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670048"/>
            <a:ext cx="288950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25C6B"/>
                </a:solidFill>
                <a:latin typeface="Segoe UI"/>
              </a:rPr>
              <a:t>When a fall happens we send a short message, not the recording. There is no library of family video sitting on someone else's server.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783080"/>
            <a:ext cx="3474720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5" y="1783080"/>
            <a:ext cx="3474720" cy="685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2139696"/>
            <a:ext cx="2889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0F172A"/>
                </a:solidFill>
                <a:latin typeface="Segoe UI Semibold"/>
              </a:rPr>
              <a:t>Runs on an ordinary laptop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670048"/>
            <a:ext cx="288950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25C6B"/>
                </a:solidFill>
                <a:latin typeface="Segoe UI"/>
              </a:rPr>
              <a:t>No graphics card, no server and no monthly subscription. A camera and a normal computer are enough.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34840"/>
            <a:ext cx="10808208" cy="157276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681728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 Semibold"/>
              </a:rPr>
              <a:t>We also put a version online that anyone can open from a link.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350" b="0" i="0">
                <a:solidFill>
                  <a:srgbClr val="CBD5E1"/>
                </a:solidFill>
                <a:latin typeface="Segoe UI"/>
              </a:rPr>
              <a:t>Even on that public page the camera video never leaves the visitor's own browser, so the same privacy promise holds. The link is on the last slide.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367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GuardianAI  ·  FYP-2026-G6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336792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Segoe UI Semibold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0F172A"/>
                </a:solidFill>
                <a:latin typeface="Segoe UI Semibold"/>
              </a:rPr>
              <a:t>Where We Are and What Is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5156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230368" cy="3913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5230368" cy="685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 i="0">
                <a:solidFill>
                  <a:srgbClr val="0F172A"/>
                </a:solidFill>
                <a:latin typeface="Segoe UI Semibold"/>
              </a:rPr>
              <a:t>Finished in FYP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606040"/>
            <a:ext cx="45720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6000"/>
              </a:lnSpc>
              <a:buClr>
                <a:srgbClr val="15803D"/>
              </a:buClr>
              <a:buSzPct val="70000"/>
              <a:buFont typeface="Arial"/>
              <a:buChar char="✓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Requirement document, now at version 3</a:t>
            </a:r>
          </a:p>
          <a:p>
            <a:pPr algn="l" marL="274320" indent="-274320">
              <a:lnSpc>
                <a:spcPct val="106000"/>
              </a:lnSpc>
              <a:spcBef>
                <a:spcPts val="1700"/>
              </a:spcBef>
              <a:buClr>
                <a:srgbClr val="15803D"/>
              </a:buClr>
              <a:buSzPct val="70000"/>
              <a:buFont typeface="Arial"/>
              <a:buChar char="✓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Software Design Document with full diagrams</a:t>
            </a:r>
          </a:p>
          <a:p>
            <a:pPr algn="l" marL="274320" indent="-274320">
              <a:lnSpc>
                <a:spcPct val="106000"/>
              </a:lnSpc>
              <a:spcBef>
                <a:spcPts val="1700"/>
              </a:spcBef>
              <a:buClr>
                <a:srgbClr val="15803D"/>
              </a:buClr>
              <a:buSzPct val="70000"/>
              <a:buFont typeface="Arial"/>
              <a:buChar char="✓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Updated architecture document</a:t>
            </a:r>
          </a:p>
          <a:p>
            <a:pPr algn="l" marL="274320" indent="-274320">
              <a:lnSpc>
                <a:spcPct val="106000"/>
              </a:lnSpc>
              <a:spcBef>
                <a:spcPts val="1700"/>
              </a:spcBef>
              <a:buClr>
                <a:srgbClr val="15803D"/>
              </a:buClr>
              <a:buSzPct val="70000"/>
              <a:buFont typeface="Arial"/>
              <a:buChar char="✓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Working prototype with a live dashboard</a:t>
            </a:r>
          </a:p>
          <a:p>
            <a:pPr algn="l" marL="274320" indent="-274320">
              <a:lnSpc>
                <a:spcPct val="106000"/>
              </a:lnSpc>
              <a:spcBef>
                <a:spcPts val="1700"/>
              </a:spcBef>
              <a:buClr>
                <a:srgbClr val="15803D"/>
              </a:buClr>
              <a:buSzPct val="70000"/>
              <a:buFont typeface="Arial"/>
              <a:buChar char="✓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Alerts through sound, popup, notification and email</a:t>
            </a:r>
          </a:p>
          <a:p>
            <a:pPr algn="l" marL="274320" indent="-274320">
              <a:lnSpc>
                <a:spcPct val="106000"/>
              </a:lnSpc>
              <a:spcBef>
                <a:spcPts val="1700"/>
              </a:spcBef>
              <a:buClr>
                <a:srgbClr val="15803D"/>
              </a:buClr>
              <a:buSzPct val="70000"/>
              <a:buFont typeface="Arial"/>
              <a:buChar char="✓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A public demo link that runs in a 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230368" cy="3913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5230368" cy="685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1031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 i="0">
                <a:solidFill>
                  <a:srgbClr val="0F172A"/>
                </a:solidFill>
                <a:latin typeface="Segoe UI Semibold"/>
              </a:rPr>
              <a:t>Planned for FYP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606040"/>
            <a:ext cx="45720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06000"/>
              </a:lnSpc>
              <a:buClr>
                <a:srgbClr val="4F46E5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Train and test on a public fall dataset and measure the accuracy properly</a:t>
            </a:r>
          </a:p>
          <a:p>
            <a:pPr algn="l" marL="274320" indent="-274320">
              <a:lnSpc>
                <a:spcPct val="106000"/>
              </a:lnSpc>
              <a:spcBef>
                <a:spcPts val="1700"/>
              </a:spcBef>
              <a:buClr>
                <a:srgbClr val="4F46E5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Tighten the fall rule so posture and speed must agree</a:t>
            </a:r>
          </a:p>
          <a:p>
            <a:pPr algn="l" marL="274320" indent="-274320">
              <a:lnSpc>
                <a:spcPct val="106000"/>
              </a:lnSpc>
              <a:spcBef>
                <a:spcPts val="1700"/>
              </a:spcBef>
              <a:buClr>
                <a:srgbClr val="4F46E5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Follow more than one person in the same room</a:t>
            </a:r>
          </a:p>
          <a:p>
            <a:pPr algn="l" marL="274320" indent="-274320">
              <a:lnSpc>
                <a:spcPct val="106000"/>
              </a:lnSpc>
              <a:spcBef>
                <a:spcPts val="1700"/>
              </a:spcBef>
              <a:buClr>
                <a:srgbClr val="4F46E5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Send alerts to a phone through SMS or WhatsApp</a:t>
            </a:r>
          </a:p>
          <a:p>
            <a:pPr algn="l" marL="274320" indent="-274320">
              <a:lnSpc>
                <a:spcPct val="106000"/>
              </a:lnSpc>
              <a:spcBef>
                <a:spcPts val="1700"/>
              </a:spcBef>
              <a:buClr>
                <a:srgbClr val="4F46E5"/>
              </a:buClr>
              <a:buSzPct val="70000"/>
              <a:buFont typeface="Arial"/>
              <a:buChar char="●"/>
            </a:pPr>
            <a:r>
              <a:rPr sz="1350" b="0" i="0">
                <a:solidFill>
                  <a:srgbClr val="1E293B"/>
                </a:solidFill>
                <a:latin typeface="Segoe UI"/>
              </a:rPr>
              <a:t>Try it on a small low cost computer next to the camera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367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GuardianAI  ·  FYP-2026-G6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36792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194560"/>
            <a:ext cx="6858000" cy="6858000"/>
          </a:xfrm>
          <a:prstGeom prst="ellipse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 Semibold"/>
              </a:rPr>
              <a:t>NOW LET US SHOW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Segoe UI Semibold"/>
              </a:rPr>
              <a:t>Live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" y="3246120"/>
            <a:ext cx="292608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Try it yourself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  <a:latin typeface="Segoe UI Semibold"/>
              </a:rPr>
              <a:t>kashan84-guardianai.static.hf.space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0916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Source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029200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Segoe UI"/>
              </a:rPr>
              <a:t>github.com/KashanAshraf84/FYP-2026-G6-RealTimeAutomatedFallDetectionAndAlertSystem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89788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Segoe UI"/>
              </a:rPr>
              <a:t>Thank you. We are happy to take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